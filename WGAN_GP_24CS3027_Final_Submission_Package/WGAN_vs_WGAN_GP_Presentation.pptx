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3000"/>
            </a:pPr>
            <a:r>
              <a:t>WGAN vs. WGAN-GP on CIFAR-10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1800"/>
            </a:pPr>
            <a:r>
              <a:t>Katravath Naveen | Roll No. 24CS3027 | Assignment DL-078</a:t>
            </a:r>
          </a:p>
          <a:p>
            <a:r>
              <a:t>Based on Gulrajani et al., NeurIPS 2017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600"/>
            </a:pPr>
            <a:r>
              <a:t>Problem Statement &amp;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GAN training can be unstable and sensitive to critic constraints.</a:t>
            </a:r>
          </a:p>
          <a:p>
            <a:pPr>
              <a:defRPr sz="2000"/>
            </a:pPr>
            <a:r>
              <a:t>Compare WGAN weight clipping with WGAN-GP gradient penalty.</a:t>
            </a:r>
          </a:p>
          <a:p>
            <a:pPr>
              <a:defRPr sz="2000"/>
            </a:pPr>
            <a:r>
              <a:t>Train both methods on all 50,000 CIFAR-10 training images.</a:t>
            </a:r>
          </a:p>
          <a:p>
            <a:pPr>
              <a:defRPr sz="2000"/>
            </a:pPr>
            <a:r>
              <a:t>Compare losses, generated samples, and approximate FID.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600"/>
            </a:pPr>
            <a:r>
              <a:t>Dataset &amp; Model Setup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CIFAR-10: 32×32 RGB images; 50,000 training images.</a:t>
            </a:r>
          </a:p>
          <a:p>
            <a:pPr>
              <a:defRPr sz="2000"/>
            </a:pPr>
            <a:r>
              <a:t>Latent dimension: 100; batch size: 64; 3 epochs per main method.</a:t>
            </a:r>
          </a:p>
          <a:p>
            <a:pPr>
              <a:defRPr sz="2000"/>
            </a:pPr>
            <a:r>
              <a:t>Generator: transposed convolutions; critic: convolutional layers.</a:t>
            </a:r>
          </a:p>
          <a:p>
            <a:pPr>
              <a:defRPr sz="2000"/>
            </a:pPr>
            <a:r>
              <a:t>Images normalized to [-1, 1].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600"/>
            </a:pPr>
            <a:r>
              <a:t>Methods Compared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WGAN clipping: RMSprop, learning rate 5×10⁻⁵, critic weights clipped to [-0.01, 0.01].</a:t>
            </a:r>
          </a:p>
          <a:p>
            <a:pPr>
              <a:defRPr sz="2000"/>
            </a:pPr>
            <a:r>
              <a:t>WGAN-GP: Adam, learning rate 1×10⁻⁴, gradient penalty λ=10.</a:t>
            </a:r>
          </a:p>
          <a:p>
            <a:pPr>
              <a:defRPr sz="2000"/>
            </a:pPr>
            <a:r>
              <a:t>Both methods use 5 critic updates per generator update.</a:t>
            </a:r>
          </a:p>
          <a:p>
            <a:pPr>
              <a:defRPr sz="2000"/>
            </a:pPr>
            <a:r>
              <a:t>WGAN-GP penalizes critic gradient norms instead of clipping parameters.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/>
            </a:pPr>
            <a:r>
              <a:t>Critic Loss Comparison</a:t>
            </a:r>
          </a:p>
        </p:txBody>
      </p:sp>
      <p:pic>
        <p:nvPicPr>
          <p:cNvPr id="3" name="Picture 2" descr="critic_loss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188720"/>
            <a:ext cx="10332720" cy="49377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6263640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/>
            </a:pPr>
            <a:r>
              <a:t>Loss curves from the executed notebook; loss is a training signal, not a quality metric.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/>
            </a:pPr>
            <a:r>
              <a:t>Generator Loss Comparison</a:t>
            </a:r>
          </a:p>
        </p:txBody>
      </p:sp>
      <p:pic>
        <p:nvPicPr>
          <p:cNvPr id="3" name="Picture 2" descr="generator_loss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188720"/>
            <a:ext cx="10332720" cy="49377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6263640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/>
            </a:pPr>
            <a:r>
              <a:t>Three-epoch main comparison.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/>
            </a:pPr>
            <a:r>
              <a:t>Generated Image Samples</a:t>
            </a:r>
          </a:p>
        </p:txBody>
      </p:sp>
      <p:pic>
        <p:nvPicPr>
          <p:cNvPr id="3" name="Picture 2" descr="wgan_gp_samp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188720"/>
            <a:ext cx="10332720" cy="49377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6263640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/>
            </a:pPr>
            <a:r>
              <a:t>Example WGAN-GP generated sample grid (λ=10).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/>
            </a:pPr>
            <a:r>
              <a:t>Approximate FID Results</a:t>
            </a:r>
          </a:p>
        </p:txBody>
      </p:sp>
      <p:pic>
        <p:nvPicPr>
          <p:cNvPr id="3" name="Picture 2" descr="fid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188720"/>
            <a:ext cx="10332720" cy="49377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6263640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/>
            </a:pPr>
            <a:r>
              <a:t>FID estimated using 500 real test images and 500 generated images; lower is better.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600"/>
            </a:pPr>
            <a:r>
              <a:t>Results &amp; Interpretation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WGAN clipping: critic -22.8178; generator 16.5960; FID 222.05.</a:t>
            </a:r>
          </a:p>
          <a:p>
            <a:pPr>
              <a:defRPr sz="2000"/>
            </a:pPr>
            <a:r>
              <a:t>WGAN-GP: critic -4.0736; generator -13.3430; FID 197.23.</a:t>
            </a:r>
          </a:p>
          <a:p>
            <a:pPr>
              <a:defRPr sz="2000"/>
            </a:pPr>
            <a:r>
              <a:t>WGAN-GP FID is lower by 24.82 points in this run.</a:t>
            </a:r>
          </a:p>
          <a:p>
            <a:pPr>
              <a:defRPr sz="2000"/>
            </a:pPr>
            <a:r>
              <a:t>Preliminary finding: three epochs and 500-image FID evaluation.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600"/>
            </a:pPr>
            <a:r>
              <a:t>Conclusion &amp; Future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Both methods were trained on the full 50,000-image CIFAR-10 training split.</a:t>
            </a:r>
          </a:p>
          <a:p>
            <a:pPr>
              <a:defRPr sz="2000"/>
            </a:pPr>
            <a:r>
              <a:t>WGAN-GP showed the lower approximate FID in the submitted run.</a:t>
            </a:r>
          </a:p>
          <a:p>
            <a:pPr>
              <a:defRPr sz="2000"/>
            </a:pPr>
            <a:r>
              <a:t>Extend training, use more FID samples, and repeat with multiple seeds.</a:t>
            </a:r>
          </a:p>
          <a:p>
            <a:pPr>
              <a:defRPr sz="2000"/>
            </a:pPr>
            <a:r>
              <a:t>Reference: Gulrajani et al., “Improved Training of Wasserstein GANs,” 2017.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